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87"/>
    <p:restoredTop sz="76067"/>
  </p:normalViewPr>
  <p:slideViewPr>
    <p:cSldViewPr snapToGrid="0">
      <p:cViewPr varScale="1">
        <p:scale>
          <a:sx n="86" d="100"/>
          <a:sy n="86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97B362-9ADC-4FF4-951E-D8635D3D2D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5B378C6-BD74-4826-BC29-27021021E386}">
      <dgm:prSet/>
      <dgm:spPr/>
      <dgm:t>
        <a:bodyPr/>
        <a:lstStyle/>
        <a:p>
          <a:r>
            <a:rPr lang="en-IN" dirty="0"/>
            <a:t>The project addresses the core challenge of implementing </a:t>
          </a:r>
          <a:r>
            <a:rPr lang="en-IN" b="1" dirty="0"/>
            <a:t>Real-Time Human Activity Recognition (HAR)</a:t>
          </a:r>
          <a:r>
            <a:rPr lang="en-IN" dirty="0"/>
            <a:t> using deep learning models on resource-constrained smartphones.</a:t>
          </a:r>
          <a:endParaRPr lang="en-US" dirty="0"/>
        </a:p>
      </dgm:t>
    </dgm:pt>
    <dgm:pt modelId="{EDA6A5E8-67E2-41E0-8356-AB5D5076EE90}" type="parTrans" cxnId="{1ECF20FB-8D99-48B5-8EB7-36CCF246CE68}">
      <dgm:prSet/>
      <dgm:spPr/>
      <dgm:t>
        <a:bodyPr/>
        <a:lstStyle/>
        <a:p>
          <a:endParaRPr lang="en-US"/>
        </a:p>
      </dgm:t>
    </dgm:pt>
    <dgm:pt modelId="{1DFD4A20-9923-490A-8F11-272BF26D72FF}" type="sibTrans" cxnId="{1ECF20FB-8D99-48B5-8EB7-36CCF246CE68}">
      <dgm:prSet/>
      <dgm:spPr/>
      <dgm:t>
        <a:bodyPr/>
        <a:lstStyle/>
        <a:p>
          <a:endParaRPr lang="en-US"/>
        </a:p>
      </dgm:t>
    </dgm:pt>
    <dgm:pt modelId="{36D40C61-FD91-4F3B-BECA-73EDD39EADB5}">
      <dgm:prSet/>
      <dgm:spPr/>
      <dgm:t>
        <a:bodyPr/>
        <a:lstStyle/>
        <a:p>
          <a:r>
            <a:rPr lang="en-IN" dirty="0"/>
            <a:t>The </a:t>
          </a:r>
          <a:r>
            <a:rPr lang="en-IN" b="1" dirty="0"/>
            <a:t>motivation</a:t>
          </a:r>
          <a:r>
            <a:rPr lang="en-IN" dirty="0"/>
            <a:t> is to enable scalable applications in mobile health, safety monitoring, and context-aware computing</a:t>
          </a:r>
          <a:endParaRPr lang="en-US" dirty="0"/>
        </a:p>
      </dgm:t>
    </dgm:pt>
    <dgm:pt modelId="{4D319D58-FF6D-41EC-B49C-E0E5F849B4AF}" type="parTrans" cxnId="{CC81FD24-5D2F-4673-B954-149BF406CAC4}">
      <dgm:prSet/>
      <dgm:spPr/>
      <dgm:t>
        <a:bodyPr/>
        <a:lstStyle/>
        <a:p>
          <a:endParaRPr lang="en-US"/>
        </a:p>
      </dgm:t>
    </dgm:pt>
    <dgm:pt modelId="{139076D1-17FB-4784-A38B-631528863907}" type="sibTrans" cxnId="{CC81FD24-5D2F-4673-B954-149BF406CAC4}">
      <dgm:prSet/>
      <dgm:spPr/>
      <dgm:t>
        <a:bodyPr/>
        <a:lstStyle/>
        <a:p>
          <a:endParaRPr lang="en-US"/>
        </a:p>
      </dgm:t>
    </dgm:pt>
    <dgm:pt modelId="{959E579E-7A34-40A6-85D6-9D7307D4A33B}">
      <dgm:prSet/>
      <dgm:spPr/>
      <dgm:t>
        <a:bodyPr/>
        <a:lstStyle/>
        <a:p>
          <a:r>
            <a:rPr lang="en-IN" dirty="0"/>
            <a:t>The </a:t>
          </a:r>
          <a:r>
            <a:rPr lang="en-IN" b="1" dirty="0"/>
            <a:t>input</a:t>
          </a:r>
          <a:r>
            <a:rPr lang="en-IN" dirty="0"/>
            <a:t> consists of raw inertial signals </a:t>
          </a:r>
          <a:endParaRPr lang="en-US" dirty="0"/>
        </a:p>
      </dgm:t>
    </dgm:pt>
    <dgm:pt modelId="{5352EE99-86E2-476D-A04A-C5FD71DBA8FA}" type="parTrans" cxnId="{163640F3-D13C-4D1A-96CE-EF92DF0B19AB}">
      <dgm:prSet/>
      <dgm:spPr/>
      <dgm:t>
        <a:bodyPr/>
        <a:lstStyle/>
        <a:p>
          <a:endParaRPr lang="en-US"/>
        </a:p>
      </dgm:t>
    </dgm:pt>
    <dgm:pt modelId="{8CE565FF-FF48-4C83-AE0C-B0DD5D07BDE4}" type="sibTrans" cxnId="{163640F3-D13C-4D1A-96CE-EF92DF0B19AB}">
      <dgm:prSet/>
      <dgm:spPr/>
      <dgm:t>
        <a:bodyPr/>
        <a:lstStyle/>
        <a:p>
          <a:endParaRPr lang="en-US"/>
        </a:p>
      </dgm:t>
    </dgm:pt>
    <dgm:pt modelId="{0D685CC0-BC79-4423-AA15-55E1F44B6FDA}">
      <dgm:prSet/>
      <dgm:spPr/>
      <dgm:t>
        <a:bodyPr/>
        <a:lstStyle/>
        <a:p>
          <a:r>
            <a:rPr lang="en-IN" dirty="0"/>
            <a:t>The </a:t>
          </a:r>
          <a:r>
            <a:rPr lang="en-IN" b="1" dirty="0"/>
            <a:t>output</a:t>
          </a:r>
          <a:r>
            <a:rPr lang="en-IN" dirty="0"/>
            <a:t> is a classification into one of six physical activities</a:t>
          </a:r>
          <a:endParaRPr lang="en-US" dirty="0"/>
        </a:p>
      </dgm:t>
    </dgm:pt>
    <dgm:pt modelId="{43CB1ACA-4AFE-4F89-8573-BC51001C483C}" type="parTrans" cxnId="{6BFF6FD2-F093-4475-9BA7-E383D7AB7164}">
      <dgm:prSet/>
      <dgm:spPr/>
      <dgm:t>
        <a:bodyPr/>
        <a:lstStyle/>
        <a:p>
          <a:endParaRPr lang="en-US"/>
        </a:p>
      </dgm:t>
    </dgm:pt>
    <dgm:pt modelId="{630AF6DA-A9EE-4123-8B08-EA21D2C88D62}" type="sibTrans" cxnId="{6BFF6FD2-F093-4475-9BA7-E383D7AB7164}">
      <dgm:prSet/>
      <dgm:spPr/>
      <dgm:t>
        <a:bodyPr/>
        <a:lstStyle/>
        <a:p>
          <a:endParaRPr lang="en-US"/>
        </a:p>
      </dgm:t>
    </dgm:pt>
    <dgm:pt modelId="{BCE73749-B521-4D5E-99D5-45D447FA1D06}">
      <dgm:prSet/>
      <dgm:spPr/>
      <dgm:t>
        <a:bodyPr/>
        <a:lstStyle/>
        <a:p>
          <a:r>
            <a:rPr lang="en-IN" dirty="0"/>
            <a:t>Deep models are computationally expensive despite their accuracy</a:t>
          </a:r>
          <a:endParaRPr lang="en-US" dirty="0"/>
        </a:p>
      </dgm:t>
    </dgm:pt>
    <dgm:pt modelId="{930BCC6B-67B0-4053-9071-31043004C5B3}" type="parTrans" cxnId="{DE076489-BA7F-4822-A3B5-9FB5D902A24C}">
      <dgm:prSet/>
      <dgm:spPr/>
      <dgm:t>
        <a:bodyPr/>
        <a:lstStyle/>
        <a:p>
          <a:endParaRPr lang="en-US"/>
        </a:p>
      </dgm:t>
    </dgm:pt>
    <dgm:pt modelId="{47B44D64-6A9D-43DA-A66F-BEFCA4DB6FF1}" type="sibTrans" cxnId="{DE076489-BA7F-4822-A3B5-9FB5D902A24C}">
      <dgm:prSet/>
      <dgm:spPr/>
      <dgm:t>
        <a:bodyPr/>
        <a:lstStyle/>
        <a:p>
          <a:endParaRPr lang="en-US"/>
        </a:p>
      </dgm:t>
    </dgm:pt>
    <dgm:pt modelId="{139C113E-4C27-475E-AFD1-86A61CDF97E6}" type="pres">
      <dgm:prSet presAssocID="{4E97B362-9ADC-4FF4-951E-D8635D3D2D2F}" presName="root" presStyleCnt="0">
        <dgm:presLayoutVars>
          <dgm:dir/>
          <dgm:resizeHandles val="exact"/>
        </dgm:presLayoutVars>
      </dgm:prSet>
      <dgm:spPr/>
    </dgm:pt>
    <dgm:pt modelId="{C9AEC5FA-92A5-45F8-AD81-9891473D36D6}" type="pres">
      <dgm:prSet presAssocID="{B5B378C6-BD74-4826-BC29-27021021E386}" presName="compNode" presStyleCnt="0"/>
      <dgm:spPr/>
    </dgm:pt>
    <dgm:pt modelId="{DFDCA9EC-39EF-4588-B078-FF939B308460}" type="pres">
      <dgm:prSet presAssocID="{B5B378C6-BD74-4826-BC29-27021021E386}" presName="bgRect" presStyleLbl="bgShp" presStyleIdx="0" presStyleCnt="5"/>
      <dgm:spPr/>
    </dgm:pt>
    <dgm:pt modelId="{6A0DFE06-F38F-456A-803C-014C2ED49DE9}" type="pres">
      <dgm:prSet presAssocID="{B5B378C6-BD74-4826-BC29-27021021E38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3387DB80-022A-44CE-BA30-F47BC9E4D749}" type="pres">
      <dgm:prSet presAssocID="{B5B378C6-BD74-4826-BC29-27021021E386}" presName="spaceRect" presStyleCnt="0"/>
      <dgm:spPr/>
    </dgm:pt>
    <dgm:pt modelId="{795A6A68-D7B5-4D13-BAF0-984A76997083}" type="pres">
      <dgm:prSet presAssocID="{B5B378C6-BD74-4826-BC29-27021021E386}" presName="parTx" presStyleLbl="revTx" presStyleIdx="0" presStyleCnt="5">
        <dgm:presLayoutVars>
          <dgm:chMax val="0"/>
          <dgm:chPref val="0"/>
        </dgm:presLayoutVars>
      </dgm:prSet>
      <dgm:spPr/>
    </dgm:pt>
    <dgm:pt modelId="{BC8A9B0E-E31B-4C16-AE7A-A3EF8EEDB249}" type="pres">
      <dgm:prSet presAssocID="{1DFD4A20-9923-490A-8F11-272BF26D72FF}" presName="sibTrans" presStyleCnt="0"/>
      <dgm:spPr/>
    </dgm:pt>
    <dgm:pt modelId="{6AC1DE27-C500-4197-BB7B-CC16436A666E}" type="pres">
      <dgm:prSet presAssocID="{36D40C61-FD91-4F3B-BECA-73EDD39EADB5}" presName="compNode" presStyleCnt="0"/>
      <dgm:spPr/>
    </dgm:pt>
    <dgm:pt modelId="{05C4FD3F-E96A-4C43-B229-A5AAE177B0A7}" type="pres">
      <dgm:prSet presAssocID="{36D40C61-FD91-4F3B-BECA-73EDD39EADB5}" presName="bgRect" presStyleLbl="bgShp" presStyleIdx="1" presStyleCnt="5"/>
      <dgm:spPr/>
    </dgm:pt>
    <dgm:pt modelId="{037A3C6A-BBDD-44AE-A2E8-27F312EBD642}" type="pres">
      <dgm:prSet presAssocID="{36D40C61-FD91-4F3B-BECA-73EDD39EADB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943FF2AA-9D0F-4314-8560-A1535BA78E12}" type="pres">
      <dgm:prSet presAssocID="{36D40C61-FD91-4F3B-BECA-73EDD39EADB5}" presName="spaceRect" presStyleCnt="0"/>
      <dgm:spPr/>
    </dgm:pt>
    <dgm:pt modelId="{63F17CA3-6909-4F93-871E-40BBF016969A}" type="pres">
      <dgm:prSet presAssocID="{36D40C61-FD91-4F3B-BECA-73EDD39EADB5}" presName="parTx" presStyleLbl="revTx" presStyleIdx="1" presStyleCnt="5">
        <dgm:presLayoutVars>
          <dgm:chMax val="0"/>
          <dgm:chPref val="0"/>
        </dgm:presLayoutVars>
      </dgm:prSet>
      <dgm:spPr/>
    </dgm:pt>
    <dgm:pt modelId="{1E010419-2763-4850-9499-568F46EFE069}" type="pres">
      <dgm:prSet presAssocID="{139076D1-17FB-4784-A38B-631528863907}" presName="sibTrans" presStyleCnt="0"/>
      <dgm:spPr/>
    </dgm:pt>
    <dgm:pt modelId="{9214E029-2204-46CE-A85F-AFBB7AB47649}" type="pres">
      <dgm:prSet presAssocID="{959E579E-7A34-40A6-85D6-9D7307D4A33B}" presName="compNode" presStyleCnt="0"/>
      <dgm:spPr/>
    </dgm:pt>
    <dgm:pt modelId="{D8921807-798E-4CC2-835E-1B0B07556B71}" type="pres">
      <dgm:prSet presAssocID="{959E579E-7A34-40A6-85D6-9D7307D4A33B}" presName="bgRect" presStyleLbl="bgShp" presStyleIdx="2" presStyleCnt="5"/>
      <dgm:spPr/>
    </dgm:pt>
    <dgm:pt modelId="{42E625DA-7148-4D8D-8B87-2F6F6441EF89}" type="pres">
      <dgm:prSet presAssocID="{959E579E-7A34-40A6-85D6-9D7307D4A33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1BBE9FF-D0DE-464E-BE8B-1DFB7100BC09}" type="pres">
      <dgm:prSet presAssocID="{959E579E-7A34-40A6-85D6-9D7307D4A33B}" presName="spaceRect" presStyleCnt="0"/>
      <dgm:spPr/>
    </dgm:pt>
    <dgm:pt modelId="{CD8626AA-3D23-4F23-AB2B-1352A751F156}" type="pres">
      <dgm:prSet presAssocID="{959E579E-7A34-40A6-85D6-9D7307D4A33B}" presName="parTx" presStyleLbl="revTx" presStyleIdx="2" presStyleCnt="5">
        <dgm:presLayoutVars>
          <dgm:chMax val="0"/>
          <dgm:chPref val="0"/>
        </dgm:presLayoutVars>
      </dgm:prSet>
      <dgm:spPr/>
    </dgm:pt>
    <dgm:pt modelId="{FEAEC815-F46C-4E8B-BAF5-85366D15BCB2}" type="pres">
      <dgm:prSet presAssocID="{8CE565FF-FF48-4C83-AE0C-B0DD5D07BDE4}" presName="sibTrans" presStyleCnt="0"/>
      <dgm:spPr/>
    </dgm:pt>
    <dgm:pt modelId="{D1C381AB-93B4-4023-8E19-63A4EF66404A}" type="pres">
      <dgm:prSet presAssocID="{0D685CC0-BC79-4423-AA15-55E1F44B6FDA}" presName="compNode" presStyleCnt="0"/>
      <dgm:spPr/>
    </dgm:pt>
    <dgm:pt modelId="{6520121E-53B3-4577-B6E6-198EBD5C0BCB}" type="pres">
      <dgm:prSet presAssocID="{0D685CC0-BC79-4423-AA15-55E1F44B6FDA}" presName="bgRect" presStyleLbl="bgShp" presStyleIdx="3" presStyleCnt="5"/>
      <dgm:spPr/>
    </dgm:pt>
    <dgm:pt modelId="{B137F574-0542-4B13-97CA-272A1B73A146}" type="pres">
      <dgm:prSet presAssocID="{0D685CC0-BC79-4423-AA15-55E1F44B6FD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729098C-EA5B-481A-A443-33D87F07C81B}" type="pres">
      <dgm:prSet presAssocID="{0D685CC0-BC79-4423-AA15-55E1F44B6FDA}" presName="spaceRect" presStyleCnt="0"/>
      <dgm:spPr/>
    </dgm:pt>
    <dgm:pt modelId="{F1A4E006-2FDF-43B5-8CE1-76A2CB331DFB}" type="pres">
      <dgm:prSet presAssocID="{0D685CC0-BC79-4423-AA15-55E1F44B6FDA}" presName="parTx" presStyleLbl="revTx" presStyleIdx="3" presStyleCnt="5">
        <dgm:presLayoutVars>
          <dgm:chMax val="0"/>
          <dgm:chPref val="0"/>
        </dgm:presLayoutVars>
      </dgm:prSet>
      <dgm:spPr/>
    </dgm:pt>
    <dgm:pt modelId="{82D866BC-6F4D-4DB7-9B6F-451F97F98308}" type="pres">
      <dgm:prSet presAssocID="{630AF6DA-A9EE-4123-8B08-EA21D2C88D62}" presName="sibTrans" presStyleCnt="0"/>
      <dgm:spPr/>
    </dgm:pt>
    <dgm:pt modelId="{BDFE7F58-595F-4BF8-B4E9-73F4544BB9A4}" type="pres">
      <dgm:prSet presAssocID="{BCE73749-B521-4D5E-99D5-45D447FA1D06}" presName="compNode" presStyleCnt="0"/>
      <dgm:spPr/>
    </dgm:pt>
    <dgm:pt modelId="{50007E71-7436-4A70-9210-073E7E83CC6B}" type="pres">
      <dgm:prSet presAssocID="{BCE73749-B521-4D5E-99D5-45D447FA1D06}" presName="bgRect" presStyleLbl="bgShp" presStyleIdx="4" presStyleCnt="5"/>
      <dgm:spPr/>
    </dgm:pt>
    <dgm:pt modelId="{51F52C76-EA57-44D9-81D4-633597788230}" type="pres">
      <dgm:prSet presAssocID="{BCE73749-B521-4D5E-99D5-45D447FA1D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365DFC-EAD8-4A4C-B956-1E601D6A1F86}" type="pres">
      <dgm:prSet presAssocID="{BCE73749-B521-4D5E-99D5-45D447FA1D06}" presName="spaceRect" presStyleCnt="0"/>
      <dgm:spPr/>
    </dgm:pt>
    <dgm:pt modelId="{CE66529F-476A-40D8-895E-E26EED006961}" type="pres">
      <dgm:prSet presAssocID="{BCE73749-B521-4D5E-99D5-45D447FA1D0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5228605-D3FE-4C7D-8330-67364550E7B9}" type="presOf" srcId="{BCE73749-B521-4D5E-99D5-45D447FA1D06}" destId="{CE66529F-476A-40D8-895E-E26EED006961}" srcOrd="0" destOrd="0" presId="urn:microsoft.com/office/officeart/2018/2/layout/IconVerticalSolidList"/>
    <dgm:cxn modelId="{CC81FD24-5D2F-4673-B954-149BF406CAC4}" srcId="{4E97B362-9ADC-4FF4-951E-D8635D3D2D2F}" destId="{36D40C61-FD91-4F3B-BECA-73EDD39EADB5}" srcOrd="1" destOrd="0" parTransId="{4D319D58-FF6D-41EC-B49C-E0E5F849B4AF}" sibTransId="{139076D1-17FB-4784-A38B-631528863907}"/>
    <dgm:cxn modelId="{D1ECB44C-2D78-47D3-A225-9596AEBAEF49}" type="presOf" srcId="{B5B378C6-BD74-4826-BC29-27021021E386}" destId="{795A6A68-D7B5-4D13-BAF0-984A76997083}" srcOrd="0" destOrd="0" presId="urn:microsoft.com/office/officeart/2018/2/layout/IconVerticalSolidList"/>
    <dgm:cxn modelId="{A2CAFF69-FCCC-40D7-9E60-5B34B6D8F1CA}" type="presOf" srcId="{36D40C61-FD91-4F3B-BECA-73EDD39EADB5}" destId="{63F17CA3-6909-4F93-871E-40BBF016969A}" srcOrd="0" destOrd="0" presId="urn:microsoft.com/office/officeart/2018/2/layout/IconVerticalSolidList"/>
    <dgm:cxn modelId="{DE076489-BA7F-4822-A3B5-9FB5D902A24C}" srcId="{4E97B362-9ADC-4FF4-951E-D8635D3D2D2F}" destId="{BCE73749-B521-4D5E-99D5-45D447FA1D06}" srcOrd="4" destOrd="0" parTransId="{930BCC6B-67B0-4053-9071-31043004C5B3}" sibTransId="{47B44D64-6A9D-43DA-A66F-BEFCA4DB6FF1}"/>
    <dgm:cxn modelId="{6BFF6FD2-F093-4475-9BA7-E383D7AB7164}" srcId="{4E97B362-9ADC-4FF4-951E-D8635D3D2D2F}" destId="{0D685CC0-BC79-4423-AA15-55E1F44B6FDA}" srcOrd="3" destOrd="0" parTransId="{43CB1ACA-4AFE-4F89-8573-BC51001C483C}" sibTransId="{630AF6DA-A9EE-4123-8B08-EA21D2C88D62}"/>
    <dgm:cxn modelId="{E54A0CD4-5E51-4968-AD25-3B2F4C0D98A3}" type="presOf" srcId="{4E97B362-9ADC-4FF4-951E-D8635D3D2D2F}" destId="{139C113E-4C27-475E-AFD1-86A61CDF97E6}" srcOrd="0" destOrd="0" presId="urn:microsoft.com/office/officeart/2018/2/layout/IconVerticalSolidList"/>
    <dgm:cxn modelId="{B7A8E1DA-BD03-4789-B050-295E4FE8F346}" type="presOf" srcId="{0D685CC0-BC79-4423-AA15-55E1F44B6FDA}" destId="{F1A4E006-2FDF-43B5-8CE1-76A2CB331DFB}" srcOrd="0" destOrd="0" presId="urn:microsoft.com/office/officeart/2018/2/layout/IconVerticalSolidList"/>
    <dgm:cxn modelId="{1CCD85F2-2135-4541-AFE9-33CC05A47FE8}" type="presOf" srcId="{959E579E-7A34-40A6-85D6-9D7307D4A33B}" destId="{CD8626AA-3D23-4F23-AB2B-1352A751F156}" srcOrd="0" destOrd="0" presId="urn:microsoft.com/office/officeart/2018/2/layout/IconVerticalSolidList"/>
    <dgm:cxn modelId="{163640F3-D13C-4D1A-96CE-EF92DF0B19AB}" srcId="{4E97B362-9ADC-4FF4-951E-D8635D3D2D2F}" destId="{959E579E-7A34-40A6-85D6-9D7307D4A33B}" srcOrd="2" destOrd="0" parTransId="{5352EE99-86E2-476D-A04A-C5FD71DBA8FA}" sibTransId="{8CE565FF-FF48-4C83-AE0C-B0DD5D07BDE4}"/>
    <dgm:cxn modelId="{1ECF20FB-8D99-48B5-8EB7-36CCF246CE68}" srcId="{4E97B362-9ADC-4FF4-951E-D8635D3D2D2F}" destId="{B5B378C6-BD74-4826-BC29-27021021E386}" srcOrd="0" destOrd="0" parTransId="{EDA6A5E8-67E2-41E0-8356-AB5D5076EE90}" sibTransId="{1DFD4A20-9923-490A-8F11-272BF26D72FF}"/>
    <dgm:cxn modelId="{8ED97C22-F1DD-4691-B425-B681FFA599A3}" type="presParOf" srcId="{139C113E-4C27-475E-AFD1-86A61CDF97E6}" destId="{C9AEC5FA-92A5-45F8-AD81-9891473D36D6}" srcOrd="0" destOrd="0" presId="urn:microsoft.com/office/officeart/2018/2/layout/IconVerticalSolidList"/>
    <dgm:cxn modelId="{4AF3E52B-1137-416E-AD86-E392CEFA4E37}" type="presParOf" srcId="{C9AEC5FA-92A5-45F8-AD81-9891473D36D6}" destId="{DFDCA9EC-39EF-4588-B078-FF939B308460}" srcOrd="0" destOrd="0" presId="urn:microsoft.com/office/officeart/2018/2/layout/IconVerticalSolidList"/>
    <dgm:cxn modelId="{6DF81265-D82C-46ED-9374-D812DB46868F}" type="presParOf" srcId="{C9AEC5FA-92A5-45F8-AD81-9891473D36D6}" destId="{6A0DFE06-F38F-456A-803C-014C2ED49DE9}" srcOrd="1" destOrd="0" presId="urn:microsoft.com/office/officeart/2018/2/layout/IconVerticalSolidList"/>
    <dgm:cxn modelId="{9368111D-5666-4B67-8F47-1C620B7FBB03}" type="presParOf" srcId="{C9AEC5FA-92A5-45F8-AD81-9891473D36D6}" destId="{3387DB80-022A-44CE-BA30-F47BC9E4D749}" srcOrd="2" destOrd="0" presId="urn:microsoft.com/office/officeart/2018/2/layout/IconVerticalSolidList"/>
    <dgm:cxn modelId="{FE5382CE-6993-4880-9323-E8D5702E5651}" type="presParOf" srcId="{C9AEC5FA-92A5-45F8-AD81-9891473D36D6}" destId="{795A6A68-D7B5-4D13-BAF0-984A76997083}" srcOrd="3" destOrd="0" presId="urn:microsoft.com/office/officeart/2018/2/layout/IconVerticalSolidList"/>
    <dgm:cxn modelId="{829C13F3-E221-45F4-919E-49946955C5CA}" type="presParOf" srcId="{139C113E-4C27-475E-AFD1-86A61CDF97E6}" destId="{BC8A9B0E-E31B-4C16-AE7A-A3EF8EEDB249}" srcOrd="1" destOrd="0" presId="urn:microsoft.com/office/officeart/2018/2/layout/IconVerticalSolidList"/>
    <dgm:cxn modelId="{3342088D-B159-462D-8D7F-0735FA5B8137}" type="presParOf" srcId="{139C113E-4C27-475E-AFD1-86A61CDF97E6}" destId="{6AC1DE27-C500-4197-BB7B-CC16436A666E}" srcOrd="2" destOrd="0" presId="urn:microsoft.com/office/officeart/2018/2/layout/IconVerticalSolidList"/>
    <dgm:cxn modelId="{25F16E8A-9F4C-4F6F-85FC-7F532DE054A0}" type="presParOf" srcId="{6AC1DE27-C500-4197-BB7B-CC16436A666E}" destId="{05C4FD3F-E96A-4C43-B229-A5AAE177B0A7}" srcOrd="0" destOrd="0" presId="urn:microsoft.com/office/officeart/2018/2/layout/IconVerticalSolidList"/>
    <dgm:cxn modelId="{0B869B79-4FC7-4484-A4C2-E7D5BB9631FC}" type="presParOf" srcId="{6AC1DE27-C500-4197-BB7B-CC16436A666E}" destId="{037A3C6A-BBDD-44AE-A2E8-27F312EBD642}" srcOrd="1" destOrd="0" presId="urn:microsoft.com/office/officeart/2018/2/layout/IconVerticalSolidList"/>
    <dgm:cxn modelId="{CE17885D-1192-4967-9B76-7E4298BA627A}" type="presParOf" srcId="{6AC1DE27-C500-4197-BB7B-CC16436A666E}" destId="{943FF2AA-9D0F-4314-8560-A1535BA78E12}" srcOrd="2" destOrd="0" presId="urn:microsoft.com/office/officeart/2018/2/layout/IconVerticalSolidList"/>
    <dgm:cxn modelId="{9D6775DA-2F5E-4CA3-BBD4-B0444BFBB329}" type="presParOf" srcId="{6AC1DE27-C500-4197-BB7B-CC16436A666E}" destId="{63F17CA3-6909-4F93-871E-40BBF016969A}" srcOrd="3" destOrd="0" presId="urn:microsoft.com/office/officeart/2018/2/layout/IconVerticalSolidList"/>
    <dgm:cxn modelId="{5A2AA4D5-1849-47E4-A752-B84E44C3EB1A}" type="presParOf" srcId="{139C113E-4C27-475E-AFD1-86A61CDF97E6}" destId="{1E010419-2763-4850-9499-568F46EFE069}" srcOrd="3" destOrd="0" presId="urn:microsoft.com/office/officeart/2018/2/layout/IconVerticalSolidList"/>
    <dgm:cxn modelId="{9C55EB58-C6F4-423E-A4B2-EE89FFD0D252}" type="presParOf" srcId="{139C113E-4C27-475E-AFD1-86A61CDF97E6}" destId="{9214E029-2204-46CE-A85F-AFBB7AB47649}" srcOrd="4" destOrd="0" presId="urn:microsoft.com/office/officeart/2018/2/layout/IconVerticalSolidList"/>
    <dgm:cxn modelId="{D8BEDD6E-D558-476A-A7BC-D34E33E839BB}" type="presParOf" srcId="{9214E029-2204-46CE-A85F-AFBB7AB47649}" destId="{D8921807-798E-4CC2-835E-1B0B07556B71}" srcOrd="0" destOrd="0" presId="urn:microsoft.com/office/officeart/2018/2/layout/IconVerticalSolidList"/>
    <dgm:cxn modelId="{1490D558-5102-4655-8D3A-559709AEA2B1}" type="presParOf" srcId="{9214E029-2204-46CE-A85F-AFBB7AB47649}" destId="{42E625DA-7148-4D8D-8B87-2F6F6441EF89}" srcOrd="1" destOrd="0" presId="urn:microsoft.com/office/officeart/2018/2/layout/IconVerticalSolidList"/>
    <dgm:cxn modelId="{036AC8A8-9C6E-4810-B81B-C1D06963C824}" type="presParOf" srcId="{9214E029-2204-46CE-A85F-AFBB7AB47649}" destId="{11BBE9FF-D0DE-464E-BE8B-1DFB7100BC09}" srcOrd="2" destOrd="0" presId="urn:microsoft.com/office/officeart/2018/2/layout/IconVerticalSolidList"/>
    <dgm:cxn modelId="{DFE945FF-9EF7-4ADB-A117-5210686E2DA0}" type="presParOf" srcId="{9214E029-2204-46CE-A85F-AFBB7AB47649}" destId="{CD8626AA-3D23-4F23-AB2B-1352A751F156}" srcOrd="3" destOrd="0" presId="urn:microsoft.com/office/officeart/2018/2/layout/IconVerticalSolidList"/>
    <dgm:cxn modelId="{655D90E3-5B3A-48E5-8CBE-CB8580ED5975}" type="presParOf" srcId="{139C113E-4C27-475E-AFD1-86A61CDF97E6}" destId="{FEAEC815-F46C-4E8B-BAF5-85366D15BCB2}" srcOrd="5" destOrd="0" presId="urn:microsoft.com/office/officeart/2018/2/layout/IconVerticalSolidList"/>
    <dgm:cxn modelId="{0F5E1EB8-EB14-4FAB-B9CF-B61BAF701DF0}" type="presParOf" srcId="{139C113E-4C27-475E-AFD1-86A61CDF97E6}" destId="{D1C381AB-93B4-4023-8E19-63A4EF66404A}" srcOrd="6" destOrd="0" presId="urn:microsoft.com/office/officeart/2018/2/layout/IconVerticalSolidList"/>
    <dgm:cxn modelId="{54CDC1F8-0B4C-40B1-9462-D5FEE55F1C64}" type="presParOf" srcId="{D1C381AB-93B4-4023-8E19-63A4EF66404A}" destId="{6520121E-53B3-4577-B6E6-198EBD5C0BCB}" srcOrd="0" destOrd="0" presId="urn:microsoft.com/office/officeart/2018/2/layout/IconVerticalSolidList"/>
    <dgm:cxn modelId="{A037CD49-C6C8-420F-B12A-CC7F647D4E11}" type="presParOf" srcId="{D1C381AB-93B4-4023-8E19-63A4EF66404A}" destId="{B137F574-0542-4B13-97CA-272A1B73A146}" srcOrd="1" destOrd="0" presId="urn:microsoft.com/office/officeart/2018/2/layout/IconVerticalSolidList"/>
    <dgm:cxn modelId="{C3893B92-BA64-41FF-89AB-14E51286FF03}" type="presParOf" srcId="{D1C381AB-93B4-4023-8E19-63A4EF66404A}" destId="{0729098C-EA5B-481A-A443-33D87F07C81B}" srcOrd="2" destOrd="0" presId="urn:microsoft.com/office/officeart/2018/2/layout/IconVerticalSolidList"/>
    <dgm:cxn modelId="{AD032A10-7952-499D-B433-D1B1BACBAE53}" type="presParOf" srcId="{D1C381AB-93B4-4023-8E19-63A4EF66404A}" destId="{F1A4E006-2FDF-43B5-8CE1-76A2CB331DFB}" srcOrd="3" destOrd="0" presId="urn:microsoft.com/office/officeart/2018/2/layout/IconVerticalSolidList"/>
    <dgm:cxn modelId="{FE34049C-EFAA-4146-9BA5-9A132F6449EF}" type="presParOf" srcId="{139C113E-4C27-475E-AFD1-86A61CDF97E6}" destId="{82D866BC-6F4D-4DB7-9B6F-451F97F98308}" srcOrd="7" destOrd="0" presId="urn:microsoft.com/office/officeart/2018/2/layout/IconVerticalSolidList"/>
    <dgm:cxn modelId="{4E6D6306-3D23-47AB-98B0-1A87B51A0FD5}" type="presParOf" srcId="{139C113E-4C27-475E-AFD1-86A61CDF97E6}" destId="{BDFE7F58-595F-4BF8-B4E9-73F4544BB9A4}" srcOrd="8" destOrd="0" presId="urn:microsoft.com/office/officeart/2018/2/layout/IconVerticalSolidList"/>
    <dgm:cxn modelId="{81D3FCCF-8EB8-47F7-85F7-16FE502CA4D6}" type="presParOf" srcId="{BDFE7F58-595F-4BF8-B4E9-73F4544BB9A4}" destId="{50007E71-7436-4A70-9210-073E7E83CC6B}" srcOrd="0" destOrd="0" presId="urn:microsoft.com/office/officeart/2018/2/layout/IconVerticalSolidList"/>
    <dgm:cxn modelId="{0F41FFE9-DF1C-45B3-A243-BC93CE42A1E1}" type="presParOf" srcId="{BDFE7F58-595F-4BF8-B4E9-73F4544BB9A4}" destId="{51F52C76-EA57-44D9-81D4-633597788230}" srcOrd="1" destOrd="0" presId="urn:microsoft.com/office/officeart/2018/2/layout/IconVerticalSolidList"/>
    <dgm:cxn modelId="{07AC89AD-9A87-44D4-BF48-70EEDA42A2A9}" type="presParOf" srcId="{BDFE7F58-595F-4BF8-B4E9-73F4544BB9A4}" destId="{D6365DFC-EAD8-4A4C-B956-1E601D6A1F86}" srcOrd="2" destOrd="0" presId="urn:microsoft.com/office/officeart/2018/2/layout/IconVerticalSolidList"/>
    <dgm:cxn modelId="{8525AE37-4C40-4857-913F-9BDCF587082C}" type="presParOf" srcId="{BDFE7F58-595F-4BF8-B4E9-73F4544BB9A4}" destId="{CE66529F-476A-40D8-895E-E26EED0069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067790-D3C5-4436-B834-3FC1F607BB1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0BBFF0-88D6-4C75-BC7A-E676DE19D89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work enables practical, low-power Human Activity Recognition (HAR) on commodity smartphones, supporting scalable health and fitness applications.</a:t>
          </a:r>
          <a:endParaRPr lang="en-US"/>
        </a:p>
      </dgm:t>
    </dgm:pt>
    <dgm:pt modelId="{ED4EABDE-050B-4DA1-BB54-38A19C660E0D}" type="parTrans" cxnId="{07EE85FA-CDA0-404E-98CD-B5D8764E7178}">
      <dgm:prSet/>
      <dgm:spPr/>
      <dgm:t>
        <a:bodyPr/>
        <a:lstStyle/>
        <a:p>
          <a:endParaRPr lang="en-US"/>
        </a:p>
      </dgm:t>
    </dgm:pt>
    <dgm:pt modelId="{D0E86353-220E-49F2-924E-754CE9C04771}" type="sibTrans" cxnId="{07EE85FA-CDA0-404E-98CD-B5D8764E7178}">
      <dgm:prSet/>
      <dgm:spPr/>
      <dgm:t>
        <a:bodyPr/>
        <a:lstStyle/>
        <a:p>
          <a:endParaRPr lang="en-US"/>
        </a:p>
      </dgm:t>
    </dgm:pt>
    <dgm:pt modelId="{0429FC37-216E-4621-9699-F3EDBCC05D3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optimization pipeline (PTQ, stable TFLite export) can be generalized to other resource-constrained mobile ML tasks, such as gesture detection.</a:t>
          </a:r>
          <a:endParaRPr lang="en-US"/>
        </a:p>
      </dgm:t>
    </dgm:pt>
    <dgm:pt modelId="{3E208FC1-3798-4E5D-A7F4-3663DAEC193C}" type="parTrans" cxnId="{96FB2852-3940-4B9F-BD58-694601E22ABA}">
      <dgm:prSet/>
      <dgm:spPr/>
      <dgm:t>
        <a:bodyPr/>
        <a:lstStyle/>
        <a:p>
          <a:endParaRPr lang="en-US"/>
        </a:p>
      </dgm:t>
    </dgm:pt>
    <dgm:pt modelId="{03D8E184-8E70-4993-B5D7-450BA9AE9111}" type="sibTrans" cxnId="{96FB2852-3940-4B9F-BD58-694601E22ABA}">
      <dgm:prSet/>
      <dgm:spPr/>
      <dgm:t>
        <a:bodyPr/>
        <a:lstStyle/>
        <a:p>
          <a:endParaRPr lang="en-US"/>
        </a:p>
      </dgm:t>
    </dgm:pt>
    <dgm:pt modelId="{559F941D-B69B-42AF-8E44-650DC778AEE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Current limitations involve TFLite toolchain constraints that prevented full-model QAT on recurrent layers and limited the benefits of sparsity from pruning.</a:t>
          </a:r>
          <a:endParaRPr lang="en-US"/>
        </a:p>
      </dgm:t>
    </dgm:pt>
    <dgm:pt modelId="{97527DCB-20B6-4A37-80D9-1B8EAB32CE5C}" type="parTrans" cxnId="{A8C4626C-EBFE-419C-9408-3278EFF51455}">
      <dgm:prSet/>
      <dgm:spPr/>
      <dgm:t>
        <a:bodyPr/>
        <a:lstStyle/>
        <a:p>
          <a:endParaRPr lang="en-US"/>
        </a:p>
      </dgm:t>
    </dgm:pt>
    <dgm:pt modelId="{E314F11C-FC0E-4A32-8B64-2736DF5862C4}" type="sibTrans" cxnId="{A8C4626C-EBFE-419C-9408-3278EFF51455}">
      <dgm:prSet/>
      <dgm:spPr/>
      <dgm:t>
        <a:bodyPr/>
        <a:lstStyle/>
        <a:p>
          <a:endParaRPr lang="en-US"/>
        </a:p>
      </dgm:t>
    </dgm:pt>
    <dgm:pt modelId="{6C1D973B-4E58-4E2F-962F-25568950C09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Future work will focus on investigating updated toolchains for </a:t>
          </a:r>
          <a:r>
            <a:rPr lang="en-IN" b="0" dirty="0"/>
            <a:t>full QAT support </a:t>
          </a:r>
          <a:r>
            <a:rPr lang="en-IN" dirty="0"/>
            <a:t>and integrating multimodal sensors for improved personalization and robustness.</a:t>
          </a:r>
          <a:endParaRPr lang="en-US" dirty="0"/>
        </a:p>
      </dgm:t>
    </dgm:pt>
    <dgm:pt modelId="{69D69DF4-992A-4DE9-A19E-00E3E1EFF1F8}" type="parTrans" cxnId="{08E87B50-811B-43E6-B242-BB105A5000A0}">
      <dgm:prSet/>
      <dgm:spPr/>
      <dgm:t>
        <a:bodyPr/>
        <a:lstStyle/>
        <a:p>
          <a:endParaRPr lang="en-US"/>
        </a:p>
      </dgm:t>
    </dgm:pt>
    <dgm:pt modelId="{38A49E02-276E-45CD-9B12-C4DD7E234170}" type="sibTrans" cxnId="{08E87B50-811B-43E6-B242-BB105A5000A0}">
      <dgm:prSet/>
      <dgm:spPr/>
      <dgm:t>
        <a:bodyPr/>
        <a:lstStyle/>
        <a:p>
          <a:endParaRPr lang="en-US"/>
        </a:p>
      </dgm:t>
    </dgm:pt>
    <dgm:pt modelId="{8FC406B2-AE31-4F2A-8E4D-8F86425477AE}" type="pres">
      <dgm:prSet presAssocID="{2A067790-D3C5-4436-B834-3FC1F607BB19}" presName="root" presStyleCnt="0">
        <dgm:presLayoutVars>
          <dgm:dir/>
          <dgm:resizeHandles val="exact"/>
        </dgm:presLayoutVars>
      </dgm:prSet>
      <dgm:spPr/>
    </dgm:pt>
    <dgm:pt modelId="{9FA7F67C-108C-483B-B781-48DCDAF9DE77}" type="pres">
      <dgm:prSet presAssocID="{A00BBFF0-88D6-4C75-BC7A-E676DE19D891}" presName="compNode" presStyleCnt="0"/>
      <dgm:spPr/>
    </dgm:pt>
    <dgm:pt modelId="{F874414B-3C06-45F4-B81C-069BE5A97D7A}" type="pres">
      <dgm:prSet presAssocID="{A00BBFF0-88D6-4C75-BC7A-E676DE19D891}" presName="bgRect" presStyleLbl="bgShp" presStyleIdx="0" presStyleCnt="4"/>
      <dgm:spPr/>
    </dgm:pt>
    <dgm:pt modelId="{AEB93C6F-E994-41C8-84CC-7949A947F321}" type="pres">
      <dgm:prSet presAssocID="{A00BBFF0-88D6-4C75-BC7A-E676DE19D8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6B7D5F0-6026-4D14-80DE-5AAA9C67B20D}" type="pres">
      <dgm:prSet presAssocID="{A00BBFF0-88D6-4C75-BC7A-E676DE19D891}" presName="spaceRect" presStyleCnt="0"/>
      <dgm:spPr/>
    </dgm:pt>
    <dgm:pt modelId="{54CC212D-3F85-40E1-B459-C86E57321E23}" type="pres">
      <dgm:prSet presAssocID="{A00BBFF0-88D6-4C75-BC7A-E676DE19D891}" presName="parTx" presStyleLbl="revTx" presStyleIdx="0" presStyleCnt="4">
        <dgm:presLayoutVars>
          <dgm:chMax val="0"/>
          <dgm:chPref val="0"/>
        </dgm:presLayoutVars>
      </dgm:prSet>
      <dgm:spPr/>
    </dgm:pt>
    <dgm:pt modelId="{56264A0C-0841-4673-931A-F2542E04F005}" type="pres">
      <dgm:prSet presAssocID="{D0E86353-220E-49F2-924E-754CE9C04771}" presName="sibTrans" presStyleCnt="0"/>
      <dgm:spPr/>
    </dgm:pt>
    <dgm:pt modelId="{4FD32DB6-E542-406E-BEF4-AAD5E02E205B}" type="pres">
      <dgm:prSet presAssocID="{0429FC37-216E-4621-9699-F3EDBCC05D37}" presName="compNode" presStyleCnt="0"/>
      <dgm:spPr/>
    </dgm:pt>
    <dgm:pt modelId="{69E8EB88-90F4-488B-B954-730E0096F663}" type="pres">
      <dgm:prSet presAssocID="{0429FC37-216E-4621-9699-F3EDBCC05D37}" presName="bgRect" presStyleLbl="bgShp" presStyleIdx="1" presStyleCnt="4"/>
      <dgm:spPr/>
    </dgm:pt>
    <dgm:pt modelId="{F9EB9504-359D-4BA9-9104-68BDD4E6152A}" type="pres">
      <dgm:prSet presAssocID="{0429FC37-216E-4621-9699-F3EDBCC05D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2E21938-674D-420B-8D65-B3EDA86EC4AA}" type="pres">
      <dgm:prSet presAssocID="{0429FC37-216E-4621-9699-F3EDBCC05D37}" presName="spaceRect" presStyleCnt="0"/>
      <dgm:spPr/>
    </dgm:pt>
    <dgm:pt modelId="{E15EB994-C6C3-4B47-8D03-2D841BFFE3CB}" type="pres">
      <dgm:prSet presAssocID="{0429FC37-216E-4621-9699-F3EDBCC05D37}" presName="parTx" presStyleLbl="revTx" presStyleIdx="1" presStyleCnt="4">
        <dgm:presLayoutVars>
          <dgm:chMax val="0"/>
          <dgm:chPref val="0"/>
        </dgm:presLayoutVars>
      </dgm:prSet>
      <dgm:spPr/>
    </dgm:pt>
    <dgm:pt modelId="{B82B9D55-B9AA-48D2-ABD8-2FF760158FAD}" type="pres">
      <dgm:prSet presAssocID="{03D8E184-8E70-4993-B5D7-450BA9AE9111}" presName="sibTrans" presStyleCnt="0"/>
      <dgm:spPr/>
    </dgm:pt>
    <dgm:pt modelId="{E52D45E5-97FB-47FF-8241-C9C0FA71C5AD}" type="pres">
      <dgm:prSet presAssocID="{559F941D-B69B-42AF-8E44-650DC778AEE3}" presName="compNode" presStyleCnt="0"/>
      <dgm:spPr/>
    </dgm:pt>
    <dgm:pt modelId="{D196613B-66C4-40EA-A97D-73E238C43C1D}" type="pres">
      <dgm:prSet presAssocID="{559F941D-B69B-42AF-8E44-650DC778AEE3}" presName="bgRect" presStyleLbl="bgShp" presStyleIdx="2" presStyleCnt="4"/>
      <dgm:spPr/>
    </dgm:pt>
    <dgm:pt modelId="{83A9F189-064C-441A-A3E7-14695534D1BE}" type="pres">
      <dgm:prSet presAssocID="{559F941D-B69B-42AF-8E44-650DC778AE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3B603D6-24D7-4DF1-940D-E62B5B7F4CCB}" type="pres">
      <dgm:prSet presAssocID="{559F941D-B69B-42AF-8E44-650DC778AEE3}" presName="spaceRect" presStyleCnt="0"/>
      <dgm:spPr/>
    </dgm:pt>
    <dgm:pt modelId="{4BF8641B-606F-4FF6-B5B2-0A2F46614E0F}" type="pres">
      <dgm:prSet presAssocID="{559F941D-B69B-42AF-8E44-650DC778AEE3}" presName="parTx" presStyleLbl="revTx" presStyleIdx="2" presStyleCnt="4">
        <dgm:presLayoutVars>
          <dgm:chMax val="0"/>
          <dgm:chPref val="0"/>
        </dgm:presLayoutVars>
      </dgm:prSet>
      <dgm:spPr/>
    </dgm:pt>
    <dgm:pt modelId="{4E36E011-391C-4E0E-9B3C-3D715FA58048}" type="pres">
      <dgm:prSet presAssocID="{E314F11C-FC0E-4A32-8B64-2736DF5862C4}" presName="sibTrans" presStyleCnt="0"/>
      <dgm:spPr/>
    </dgm:pt>
    <dgm:pt modelId="{B85A1407-A982-4A78-A9AA-F0EE108EE2F1}" type="pres">
      <dgm:prSet presAssocID="{6C1D973B-4E58-4E2F-962F-25568950C099}" presName="compNode" presStyleCnt="0"/>
      <dgm:spPr/>
    </dgm:pt>
    <dgm:pt modelId="{5FF6DE68-9B7C-4199-A13B-1CE6AEABB009}" type="pres">
      <dgm:prSet presAssocID="{6C1D973B-4E58-4E2F-962F-25568950C099}" presName="bgRect" presStyleLbl="bgShp" presStyleIdx="3" presStyleCnt="4"/>
      <dgm:spPr/>
    </dgm:pt>
    <dgm:pt modelId="{CB3FC5DF-E2C9-4A87-8DB8-BE57A7AD126D}" type="pres">
      <dgm:prSet presAssocID="{6C1D973B-4E58-4E2F-962F-25568950C0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D2E6022C-6359-4D4B-BD26-0E75F7F876D2}" type="pres">
      <dgm:prSet presAssocID="{6C1D973B-4E58-4E2F-962F-25568950C099}" presName="spaceRect" presStyleCnt="0"/>
      <dgm:spPr/>
    </dgm:pt>
    <dgm:pt modelId="{52D440B2-E959-4CA4-BC93-C5441FE7738C}" type="pres">
      <dgm:prSet presAssocID="{6C1D973B-4E58-4E2F-962F-25568950C0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B272E3E-CFBC-4B2F-8055-556574664809}" type="presOf" srcId="{A00BBFF0-88D6-4C75-BC7A-E676DE19D891}" destId="{54CC212D-3F85-40E1-B459-C86E57321E23}" srcOrd="0" destOrd="0" presId="urn:microsoft.com/office/officeart/2018/2/layout/IconVerticalSolidList"/>
    <dgm:cxn modelId="{08E87B50-811B-43E6-B242-BB105A5000A0}" srcId="{2A067790-D3C5-4436-B834-3FC1F607BB19}" destId="{6C1D973B-4E58-4E2F-962F-25568950C099}" srcOrd="3" destOrd="0" parTransId="{69D69DF4-992A-4DE9-A19E-00E3E1EFF1F8}" sibTransId="{38A49E02-276E-45CD-9B12-C4DD7E234170}"/>
    <dgm:cxn modelId="{96FB2852-3940-4B9F-BD58-694601E22ABA}" srcId="{2A067790-D3C5-4436-B834-3FC1F607BB19}" destId="{0429FC37-216E-4621-9699-F3EDBCC05D37}" srcOrd="1" destOrd="0" parTransId="{3E208FC1-3798-4E5D-A7F4-3663DAEC193C}" sibTransId="{03D8E184-8E70-4993-B5D7-450BA9AE9111}"/>
    <dgm:cxn modelId="{B1A83F64-23C5-41D9-B3C5-6274DDC2A3BA}" type="presOf" srcId="{0429FC37-216E-4621-9699-F3EDBCC05D37}" destId="{E15EB994-C6C3-4B47-8D03-2D841BFFE3CB}" srcOrd="0" destOrd="0" presId="urn:microsoft.com/office/officeart/2018/2/layout/IconVerticalSolidList"/>
    <dgm:cxn modelId="{A8C4626C-EBFE-419C-9408-3278EFF51455}" srcId="{2A067790-D3C5-4436-B834-3FC1F607BB19}" destId="{559F941D-B69B-42AF-8E44-650DC778AEE3}" srcOrd="2" destOrd="0" parTransId="{97527DCB-20B6-4A37-80D9-1B8EAB32CE5C}" sibTransId="{E314F11C-FC0E-4A32-8B64-2736DF5862C4}"/>
    <dgm:cxn modelId="{4118D281-7772-4B9D-A8F7-9971EF07B46F}" type="presOf" srcId="{6C1D973B-4E58-4E2F-962F-25568950C099}" destId="{52D440B2-E959-4CA4-BC93-C5441FE7738C}" srcOrd="0" destOrd="0" presId="urn:microsoft.com/office/officeart/2018/2/layout/IconVerticalSolidList"/>
    <dgm:cxn modelId="{1BDE3884-2026-4430-BB6D-F955543B3BA7}" type="presOf" srcId="{2A067790-D3C5-4436-B834-3FC1F607BB19}" destId="{8FC406B2-AE31-4F2A-8E4D-8F86425477AE}" srcOrd="0" destOrd="0" presId="urn:microsoft.com/office/officeart/2018/2/layout/IconVerticalSolidList"/>
    <dgm:cxn modelId="{F759ECE4-1C45-4514-B161-94A9FC2249F3}" type="presOf" srcId="{559F941D-B69B-42AF-8E44-650DC778AEE3}" destId="{4BF8641B-606F-4FF6-B5B2-0A2F46614E0F}" srcOrd="0" destOrd="0" presId="urn:microsoft.com/office/officeart/2018/2/layout/IconVerticalSolidList"/>
    <dgm:cxn modelId="{07EE85FA-CDA0-404E-98CD-B5D8764E7178}" srcId="{2A067790-D3C5-4436-B834-3FC1F607BB19}" destId="{A00BBFF0-88D6-4C75-BC7A-E676DE19D891}" srcOrd="0" destOrd="0" parTransId="{ED4EABDE-050B-4DA1-BB54-38A19C660E0D}" sibTransId="{D0E86353-220E-49F2-924E-754CE9C04771}"/>
    <dgm:cxn modelId="{A57A9B4E-049A-426F-8E30-DEFE7A8E006F}" type="presParOf" srcId="{8FC406B2-AE31-4F2A-8E4D-8F86425477AE}" destId="{9FA7F67C-108C-483B-B781-48DCDAF9DE77}" srcOrd="0" destOrd="0" presId="urn:microsoft.com/office/officeart/2018/2/layout/IconVerticalSolidList"/>
    <dgm:cxn modelId="{9CEAF66E-6F56-40D8-8B1D-78C25C636BFE}" type="presParOf" srcId="{9FA7F67C-108C-483B-B781-48DCDAF9DE77}" destId="{F874414B-3C06-45F4-B81C-069BE5A97D7A}" srcOrd="0" destOrd="0" presId="urn:microsoft.com/office/officeart/2018/2/layout/IconVerticalSolidList"/>
    <dgm:cxn modelId="{AA8DFF15-3EA2-4423-BA6F-B024E665DB10}" type="presParOf" srcId="{9FA7F67C-108C-483B-B781-48DCDAF9DE77}" destId="{AEB93C6F-E994-41C8-84CC-7949A947F321}" srcOrd="1" destOrd="0" presId="urn:microsoft.com/office/officeart/2018/2/layout/IconVerticalSolidList"/>
    <dgm:cxn modelId="{1EEC97B1-4C60-423C-82C3-4D5A2C7989AB}" type="presParOf" srcId="{9FA7F67C-108C-483B-B781-48DCDAF9DE77}" destId="{96B7D5F0-6026-4D14-80DE-5AAA9C67B20D}" srcOrd="2" destOrd="0" presId="urn:microsoft.com/office/officeart/2018/2/layout/IconVerticalSolidList"/>
    <dgm:cxn modelId="{2B6B4C04-8914-407C-972C-BDA42DB5AFC8}" type="presParOf" srcId="{9FA7F67C-108C-483B-B781-48DCDAF9DE77}" destId="{54CC212D-3F85-40E1-B459-C86E57321E23}" srcOrd="3" destOrd="0" presId="urn:microsoft.com/office/officeart/2018/2/layout/IconVerticalSolidList"/>
    <dgm:cxn modelId="{6E7749D9-274F-4163-9369-4B360910F6B8}" type="presParOf" srcId="{8FC406B2-AE31-4F2A-8E4D-8F86425477AE}" destId="{56264A0C-0841-4673-931A-F2542E04F005}" srcOrd="1" destOrd="0" presId="urn:microsoft.com/office/officeart/2018/2/layout/IconVerticalSolidList"/>
    <dgm:cxn modelId="{E992F649-CA63-467F-AF58-03DC1BD3BADD}" type="presParOf" srcId="{8FC406B2-AE31-4F2A-8E4D-8F86425477AE}" destId="{4FD32DB6-E542-406E-BEF4-AAD5E02E205B}" srcOrd="2" destOrd="0" presId="urn:microsoft.com/office/officeart/2018/2/layout/IconVerticalSolidList"/>
    <dgm:cxn modelId="{0D2C579C-63D9-475B-AEB9-74589ED4AA72}" type="presParOf" srcId="{4FD32DB6-E542-406E-BEF4-AAD5E02E205B}" destId="{69E8EB88-90F4-488B-B954-730E0096F663}" srcOrd="0" destOrd="0" presId="urn:microsoft.com/office/officeart/2018/2/layout/IconVerticalSolidList"/>
    <dgm:cxn modelId="{37569002-816B-41A9-A461-EB4C144101C7}" type="presParOf" srcId="{4FD32DB6-E542-406E-BEF4-AAD5E02E205B}" destId="{F9EB9504-359D-4BA9-9104-68BDD4E6152A}" srcOrd="1" destOrd="0" presId="urn:microsoft.com/office/officeart/2018/2/layout/IconVerticalSolidList"/>
    <dgm:cxn modelId="{FCF8D2E2-B517-408F-857E-484BCB117B8B}" type="presParOf" srcId="{4FD32DB6-E542-406E-BEF4-AAD5E02E205B}" destId="{02E21938-674D-420B-8D65-B3EDA86EC4AA}" srcOrd="2" destOrd="0" presId="urn:microsoft.com/office/officeart/2018/2/layout/IconVerticalSolidList"/>
    <dgm:cxn modelId="{9000C9F3-544A-4315-A80D-D0ED5D73114F}" type="presParOf" srcId="{4FD32DB6-E542-406E-BEF4-AAD5E02E205B}" destId="{E15EB994-C6C3-4B47-8D03-2D841BFFE3CB}" srcOrd="3" destOrd="0" presId="urn:microsoft.com/office/officeart/2018/2/layout/IconVerticalSolidList"/>
    <dgm:cxn modelId="{2730EFAF-AAF7-4117-AFD9-5EFE19CF5FFD}" type="presParOf" srcId="{8FC406B2-AE31-4F2A-8E4D-8F86425477AE}" destId="{B82B9D55-B9AA-48D2-ABD8-2FF760158FAD}" srcOrd="3" destOrd="0" presId="urn:microsoft.com/office/officeart/2018/2/layout/IconVerticalSolidList"/>
    <dgm:cxn modelId="{C28F3AC1-44D8-4CAA-B0FA-3E6F1BED1714}" type="presParOf" srcId="{8FC406B2-AE31-4F2A-8E4D-8F86425477AE}" destId="{E52D45E5-97FB-47FF-8241-C9C0FA71C5AD}" srcOrd="4" destOrd="0" presId="urn:microsoft.com/office/officeart/2018/2/layout/IconVerticalSolidList"/>
    <dgm:cxn modelId="{CC49D4E8-B280-4D5B-89CF-8D186528DEBC}" type="presParOf" srcId="{E52D45E5-97FB-47FF-8241-C9C0FA71C5AD}" destId="{D196613B-66C4-40EA-A97D-73E238C43C1D}" srcOrd="0" destOrd="0" presId="urn:microsoft.com/office/officeart/2018/2/layout/IconVerticalSolidList"/>
    <dgm:cxn modelId="{4BB31774-5860-4E65-97E2-024635FE7A4C}" type="presParOf" srcId="{E52D45E5-97FB-47FF-8241-C9C0FA71C5AD}" destId="{83A9F189-064C-441A-A3E7-14695534D1BE}" srcOrd="1" destOrd="0" presId="urn:microsoft.com/office/officeart/2018/2/layout/IconVerticalSolidList"/>
    <dgm:cxn modelId="{20DCBC36-49B1-453B-94E6-2B56F722DA4D}" type="presParOf" srcId="{E52D45E5-97FB-47FF-8241-C9C0FA71C5AD}" destId="{33B603D6-24D7-4DF1-940D-E62B5B7F4CCB}" srcOrd="2" destOrd="0" presId="urn:microsoft.com/office/officeart/2018/2/layout/IconVerticalSolidList"/>
    <dgm:cxn modelId="{FEFD3B8F-A0FB-4F8B-8DE1-B27FAA55B8AD}" type="presParOf" srcId="{E52D45E5-97FB-47FF-8241-C9C0FA71C5AD}" destId="{4BF8641B-606F-4FF6-B5B2-0A2F46614E0F}" srcOrd="3" destOrd="0" presId="urn:microsoft.com/office/officeart/2018/2/layout/IconVerticalSolidList"/>
    <dgm:cxn modelId="{5F0B3EE1-3AA1-49A9-97D4-E9847DDC6149}" type="presParOf" srcId="{8FC406B2-AE31-4F2A-8E4D-8F86425477AE}" destId="{4E36E011-391C-4E0E-9B3C-3D715FA58048}" srcOrd="5" destOrd="0" presId="urn:microsoft.com/office/officeart/2018/2/layout/IconVerticalSolidList"/>
    <dgm:cxn modelId="{29477F35-F277-49F5-B645-D4DEAE916F3C}" type="presParOf" srcId="{8FC406B2-AE31-4F2A-8E4D-8F86425477AE}" destId="{B85A1407-A982-4A78-A9AA-F0EE108EE2F1}" srcOrd="6" destOrd="0" presId="urn:microsoft.com/office/officeart/2018/2/layout/IconVerticalSolidList"/>
    <dgm:cxn modelId="{E687A21B-BB0F-4BFE-8C09-1DBAFACEA14E}" type="presParOf" srcId="{B85A1407-A982-4A78-A9AA-F0EE108EE2F1}" destId="{5FF6DE68-9B7C-4199-A13B-1CE6AEABB009}" srcOrd="0" destOrd="0" presId="urn:microsoft.com/office/officeart/2018/2/layout/IconVerticalSolidList"/>
    <dgm:cxn modelId="{C6D7827A-F752-4707-90E8-DB7BF740E1F5}" type="presParOf" srcId="{B85A1407-A982-4A78-A9AA-F0EE108EE2F1}" destId="{CB3FC5DF-E2C9-4A87-8DB8-BE57A7AD126D}" srcOrd="1" destOrd="0" presId="urn:microsoft.com/office/officeart/2018/2/layout/IconVerticalSolidList"/>
    <dgm:cxn modelId="{B46695B6-8BF9-4873-8EE0-DF8E3DB9A40E}" type="presParOf" srcId="{B85A1407-A982-4A78-A9AA-F0EE108EE2F1}" destId="{D2E6022C-6359-4D4B-BD26-0E75F7F876D2}" srcOrd="2" destOrd="0" presId="urn:microsoft.com/office/officeart/2018/2/layout/IconVerticalSolidList"/>
    <dgm:cxn modelId="{2829169C-A6FB-44B3-9A4C-2D554686A760}" type="presParOf" srcId="{B85A1407-A982-4A78-A9AA-F0EE108EE2F1}" destId="{52D440B2-E959-4CA4-BC93-C5441FE773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CA9EC-39EF-4588-B078-FF939B308460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DFE06-F38F-456A-803C-014C2ED49DE9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A6A68-D7B5-4D13-BAF0-984A76997083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The project addresses the core challenge of implementing </a:t>
          </a:r>
          <a:r>
            <a:rPr lang="en-IN" sz="1900" b="1" kern="1200" dirty="0"/>
            <a:t>Real-Time Human Activity Recognition (HAR)</a:t>
          </a:r>
          <a:r>
            <a:rPr lang="en-IN" sz="1900" kern="1200" dirty="0"/>
            <a:t> using deep learning models on resource-constrained smartphones.</a:t>
          </a:r>
          <a:endParaRPr lang="en-US" sz="1900" kern="1200" dirty="0"/>
        </a:p>
      </dsp:txBody>
      <dsp:txXfrm>
        <a:off x="837512" y="3404"/>
        <a:ext cx="9678087" cy="725119"/>
      </dsp:txXfrm>
    </dsp:sp>
    <dsp:sp modelId="{05C4FD3F-E96A-4C43-B229-A5AAE177B0A7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7A3C6A-BBDD-44AE-A2E8-27F312EBD642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17CA3-6909-4F93-871E-40BBF016969A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The </a:t>
          </a:r>
          <a:r>
            <a:rPr lang="en-IN" sz="1900" b="1" kern="1200" dirty="0"/>
            <a:t>motivation</a:t>
          </a:r>
          <a:r>
            <a:rPr lang="en-IN" sz="1900" kern="1200" dirty="0"/>
            <a:t> is to enable scalable applications in mobile health, safety monitoring, and context-aware computing</a:t>
          </a:r>
          <a:endParaRPr lang="en-US" sz="1900" kern="1200" dirty="0"/>
        </a:p>
      </dsp:txBody>
      <dsp:txXfrm>
        <a:off x="837512" y="909803"/>
        <a:ext cx="9678087" cy="725119"/>
      </dsp:txXfrm>
    </dsp:sp>
    <dsp:sp modelId="{D8921807-798E-4CC2-835E-1B0B07556B71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625DA-7148-4D8D-8B87-2F6F6441EF89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626AA-3D23-4F23-AB2B-1352A751F156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The </a:t>
          </a:r>
          <a:r>
            <a:rPr lang="en-IN" sz="1900" b="1" kern="1200" dirty="0"/>
            <a:t>input</a:t>
          </a:r>
          <a:r>
            <a:rPr lang="en-IN" sz="1900" kern="1200" dirty="0"/>
            <a:t> consists of raw inertial signals </a:t>
          </a:r>
          <a:endParaRPr lang="en-US" sz="1900" kern="1200" dirty="0"/>
        </a:p>
      </dsp:txBody>
      <dsp:txXfrm>
        <a:off x="837512" y="1816202"/>
        <a:ext cx="9678087" cy="725119"/>
      </dsp:txXfrm>
    </dsp:sp>
    <dsp:sp modelId="{6520121E-53B3-4577-B6E6-198EBD5C0BCB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7F574-0542-4B13-97CA-272A1B73A146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4E006-2FDF-43B5-8CE1-76A2CB331DFB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The </a:t>
          </a:r>
          <a:r>
            <a:rPr lang="en-IN" sz="1900" b="1" kern="1200" dirty="0"/>
            <a:t>output</a:t>
          </a:r>
          <a:r>
            <a:rPr lang="en-IN" sz="1900" kern="1200" dirty="0"/>
            <a:t> is a classification into one of six physical activities</a:t>
          </a:r>
          <a:endParaRPr lang="en-US" sz="1900" kern="1200" dirty="0"/>
        </a:p>
      </dsp:txBody>
      <dsp:txXfrm>
        <a:off x="837512" y="2722601"/>
        <a:ext cx="9678087" cy="725119"/>
      </dsp:txXfrm>
    </dsp:sp>
    <dsp:sp modelId="{50007E71-7436-4A70-9210-073E7E83CC6B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52C76-EA57-44D9-81D4-633597788230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6529F-476A-40D8-895E-E26EED006961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Deep models are computationally expensive despite their accuracy</a:t>
          </a:r>
          <a:endParaRPr lang="en-US" sz="1900" kern="1200" dirty="0"/>
        </a:p>
      </dsp:txBody>
      <dsp:txXfrm>
        <a:off x="837512" y="3629000"/>
        <a:ext cx="9678087" cy="725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4414B-3C06-45F4-B81C-069BE5A97D7A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93C6F-E994-41C8-84CC-7949A947F32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C212D-3F85-40E1-B459-C86E57321E23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The work enables practical, low-power Human Activity Recognition (HAR) on commodity smartphones, supporting scalable health and fitness applications.</a:t>
          </a:r>
          <a:endParaRPr lang="en-US" sz="2000" kern="1200"/>
        </a:p>
      </dsp:txBody>
      <dsp:txXfrm>
        <a:off x="1057183" y="1805"/>
        <a:ext cx="9458416" cy="915310"/>
      </dsp:txXfrm>
    </dsp:sp>
    <dsp:sp modelId="{69E8EB88-90F4-488B-B954-730E0096F66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B9504-359D-4BA9-9104-68BDD4E6152A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EB994-C6C3-4B47-8D03-2D841BFFE3C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The optimization pipeline (PTQ, stable TFLite export) can be generalized to other resource-constrained mobile ML tasks, such as gesture detection.</a:t>
          </a:r>
          <a:endParaRPr lang="en-US" sz="2000" kern="1200"/>
        </a:p>
      </dsp:txBody>
      <dsp:txXfrm>
        <a:off x="1057183" y="1145944"/>
        <a:ext cx="9458416" cy="915310"/>
      </dsp:txXfrm>
    </dsp:sp>
    <dsp:sp modelId="{D196613B-66C4-40EA-A97D-73E238C43C1D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9F189-064C-441A-A3E7-14695534D1BE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8641B-606F-4FF6-B5B2-0A2F46614E0F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Current limitations involve TFLite toolchain constraints that prevented full-model QAT on recurrent layers and limited the benefits of sparsity from pruning.</a:t>
          </a:r>
          <a:endParaRPr lang="en-US" sz="2000" kern="1200"/>
        </a:p>
      </dsp:txBody>
      <dsp:txXfrm>
        <a:off x="1057183" y="2290082"/>
        <a:ext cx="9458416" cy="915310"/>
      </dsp:txXfrm>
    </dsp:sp>
    <dsp:sp modelId="{5FF6DE68-9B7C-4199-A13B-1CE6AEABB00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FC5DF-E2C9-4A87-8DB8-BE57A7AD126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440B2-E959-4CA4-BC93-C5441FE7738C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Future work will focus on investigating updated toolchains for </a:t>
          </a:r>
          <a:r>
            <a:rPr lang="en-IN" sz="2000" b="0" kern="1200" dirty="0"/>
            <a:t>full QAT support </a:t>
          </a:r>
          <a:r>
            <a:rPr lang="en-IN" sz="2000" kern="1200" dirty="0"/>
            <a:t>and integrating multimodal sensors for improved personalization and robustness.</a:t>
          </a:r>
          <a:endParaRPr lang="en-US" sz="2000" kern="1200" dirty="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999F4-CC84-7C44-8160-4682F035A751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84ADE-E9E7-D348-B796-499FA7DE5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5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51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2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4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3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0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74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4ADE-E9E7-D348-B796-499FA7DE51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9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75B9-133A-FD3C-4CFA-65FDDB655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6A5C-02C8-C5FA-FF20-EB6A8E533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E8C52-2ED8-4809-6FB5-B5E4AA23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B758D-36B8-49DE-8528-41A1DAD1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2CB3-B2D6-0818-0F5A-FF04F086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5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0916-72A6-D7FC-EE6F-17C8A88A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726C-F511-6044-152B-7C6AFA46E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C64F6-1ED7-FFD0-A6C6-83A96BF3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353DD-74D1-96FF-0270-9F0171E6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1A507-D4E0-831F-9A36-2305692F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77A0-F929-D279-D03B-34A4AA7A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14300-74BC-40F5-D7BD-0EC864EA1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20A2B-2CE9-3476-1DF1-9EF75E6C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3EB3-76F1-B7E8-91EB-CF7997F6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A325F-2714-0178-FDCE-894209B46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B2BC-4195-39D9-69F8-D7B4E827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727B-4A58-B5C6-EBAC-0C7B0C348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80D05-AF2E-BC63-3412-25537F60A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97F39-D389-DCF9-5458-4520CC85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9E97D-D594-8B9A-0B6F-82A4D6A8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D4959-9407-9E30-491A-317F804B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7B16-1460-9E44-F82A-6027E243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65E9-D4F0-B516-20F3-6BEE540B0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5FBB9-E9C6-C39A-CA71-A53181367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5D6AB-51FD-FCB6-C956-18ED13EFA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595A7-9D5A-AE64-21E0-CB25EA543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33935-A637-6B51-DAE3-E2EFE3B1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146D1-7BF7-0970-F54D-20BDB12C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F09A2-9213-BCF4-46BD-D8FE36B1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6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B79A-8968-F11A-9606-54B1BE2D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C3052-C637-36EE-B1DC-D460D5719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0E22D-99BC-D855-725C-66CCABE7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F3348-9046-E46A-8E57-D4C76F90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5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3A98E-D6D2-B351-3CE3-2661B719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A4718-3FB3-E4F0-F749-46DDD948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B1D0-8765-679D-4768-DDD2C208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7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DFAF-A869-DBC6-4491-4FC97361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A2F7A-82A0-26C8-05E5-1CE5FA85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CA29F-6BA9-6C71-7366-9CDF8EDB3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8825-8341-6301-39CF-A177DC94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42D0F-032C-C430-49B7-C1CE4DBB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8786F-9147-9A4A-85D2-C714A880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9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CCD4-6F24-F060-E1BF-E27BA231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A9CD3-1E5C-2E54-BC8F-758A17EBC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8D4A3-853F-B157-8746-31C70D82F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FF8FD-8B04-A0CA-D383-C5C84B50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4D435-8AD7-2A89-A7E0-B779C135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6C30D-0B94-0BB4-E220-6708E637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7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B8F6-BC0B-3DB5-4B2C-226DF6CA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E7B5F-A6E5-1CD9-DE85-82369C37C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7338E-0AF4-9BB5-7A81-8A7A7FB0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BE2CE-7704-8962-4A8C-926A1A1A2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BED98-B92B-68DB-6309-08A13FA0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2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2E01D-DBEC-AFD0-2977-308AFDB62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E64C3-8B47-B6F3-7D53-31FA91B45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AF462-B379-3F0E-98D3-B3284372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11EE-5B6A-22E1-B415-F0649FAB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136C-70DC-C562-AC76-58C4C288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7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7B806-B024-F643-F220-E776A82F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6C9C5-9424-0F8D-177F-9607742B4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CB2D-C015-22B7-82E0-489581DAC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8C45F-4E8C-FA4A-B5C7-A5706BF233B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C2358-8115-2760-7DCC-B5846FA4A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8136B-9919-B24A-E459-712543ACA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FA0B7-3909-4248-9D7B-B8EBC527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0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7080F-7FAB-624A-01AB-A8F90DB61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Quantization and Pruning-Aware Deep Recurrent Models for Real-Time Human Activity Recognition on Android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2644C-2EE5-84CE-717A-6E61FACEF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Harshit Singh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Trisha Ghali</a:t>
            </a: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30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0761A-0D10-420A-812F-BB6FF1FD7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Problem Statement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C8E01A-E1E7-F14A-186C-45BAC43B3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1328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303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079DE-236E-31FE-8412-6D94FC30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Technical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DDBC-CF83-1C0D-578A-43D32A246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928" y="2324912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IN" sz="2000" dirty="0"/>
              <a:t>The problem is technically challenging due to the high parameter counts of CNN-LSTM/GRU models</a:t>
            </a:r>
          </a:p>
          <a:p>
            <a:r>
              <a:rPr lang="en-IN" sz="2000" dirty="0"/>
              <a:t>Deployment stability is a major issue because recurrent layers (LSTMs/GRUs)</a:t>
            </a:r>
          </a:p>
          <a:p>
            <a:r>
              <a:rPr lang="en-IN" sz="2000" dirty="0"/>
              <a:t>Toolchain constraints within </a:t>
            </a:r>
            <a:r>
              <a:rPr lang="en-IN" sz="2000" dirty="0" err="1"/>
              <a:t>TFLite</a:t>
            </a:r>
            <a:r>
              <a:rPr lang="en-IN" sz="2000" dirty="0"/>
              <a:t> present a significant challenge</a:t>
            </a:r>
          </a:p>
          <a:p>
            <a:r>
              <a:rPr lang="en-IN" sz="2000" dirty="0"/>
              <a:t>Ensuring runtime reliability is difficult</a:t>
            </a:r>
            <a:endParaRPr lang="en-IN" sz="1400" dirty="0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3431A1A2-63E2-3BD0-49D3-27ADE4B6A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16" r="438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7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A6F15-83F3-05AD-E858-4933A4D8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36BD3-6EFA-0CD7-EFCD-59F1DB9C0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N" sz="2000" dirty="0"/>
              <a:t>Previous HAR research successfully evolved from manual feature engineering to the use of deep learning models </a:t>
            </a:r>
          </a:p>
          <a:p>
            <a:r>
              <a:rPr lang="en-IN" sz="2000" dirty="0"/>
              <a:t>The use of recurrent architectures has been widely adopted due to their effectiveness in </a:t>
            </a:r>
            <a:r>
              <a:rPr lang="en-IN" sz="2000" dirty="0" err="1"/>
              <a:t>modeling</a:t>
            </a:r>
            <a:r>
              <a:rPr lang="en-IN" sz="2000" dirty="0"/>
              <a:t> the inherent temporal structure</a:t>
            </a:r>
          </a:p>
          <a:p>
            <a:r>
              <a:rPr lang="en-IN" sz="2000" dirty="0"/>
              <a:t>Prior deployment studies have focused on </a:t>
            </a:r>
            <a:r>
              <a:rPr lang="en-IN" sz="2000" dirty="0" err="1"/>
              <a:t>analyzing</a:t>
            </a:r>
            <a:r>
              <a:rPr lang="en-IN" sz="2000" dirty="0"/>
              <a:t> the runtime </a:t>
            </a:r>
            <a:r>
              <a:rPr lang="en-IN" sz="2000" dirty="0" err="1"/>
              <a:t>behavior</a:t>
            </a:r>
            <a:r>
              <a:rPr lang="en-IN" sz="2000" dirty="0"/>
              <a:t> and energy consumption of deep LSTM models on mobile platforms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5517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73019-B628-CFFC-1F57-03E9D554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0AD688-F9E9-E8B0-6627-60A7A38E66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35711" y="271040"/>
            <a:ext cx="6555347" cy="68579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designed and evaluated two compact architectures: a CNN-LSTM model and a lightweight GRU model as an efficiency-focused alternative.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applied different quantization techniques to make models mobile-friendly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handled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QAT constraints by applying QAT only to the final Dense layers.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stability was ensured by using Concrete Function Signatures during </a:t>
            </a:r>
            <a:r>
              <a:rPr lang="en-IN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enhanced robustness by using an Autoencoder-based Anomaly Rejection mechanism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D5D2E51-A652-4FCB-ADE3-8974F2723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08E18253-076D-4D89-968E-FCD8887E2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F6EBCC24-DE3B-4BAD-9624-83E1C2D66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07E78-9D9F-355C-E819-665CC8B73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243584"/>
          </a:xfrm>
        </p:spPr>
        <p:txBody>
          <a:bodyPr>
            <a:normAutofit/>
          </a:bodyPr>
          <a:lstStyle/>
          <a:p>
            <a:r>
              <a:rPr lang="en-US" sz="3400"/>
              <a:t>Results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07AF1D-AB44-447B-BC2F-DBECCC06C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CD70E2-BD62-41E4-975D-E58B07928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343E75-E8DE-8D1F-5B4D-C5AFD5962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4600"/>
            <a:ext cx="4837176" cy="3666744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8" name="Picture 7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4DBB8E59-49F4-432A-56D9-EED51483D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30" y="1769981"/>
            <a:ext cx="5623110" cy="4357907"/>
          </a:xfrm>
          <a:prstGeom prst="rect">
            <a:avLst/>
          </a:prstGeom>
        </p:spPr>
      </p:pic>
      <p:pic>
        <p:nvPicPr>
          <p:cNvPr id="9" name="Picture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1ECD2AF-7105-EB69-AD6A-E7F9CE4D2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41" y="63846"/>
            <a:ext cx="5269918" cy="3412270"/>
          </a:xfrm>
          <a:prstGeom prst="rect">
            <a:avLst/>
          </a:prstGeom>
        </p:spPr>
      </p:pic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A2DA4341-16F3-3A2D-08BB-0C2638686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152" y="3550996"/>
            <a:ext cx="5228807" cy="31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2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2F51-8C9C-39BC-2558-D148099F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DF047E9F-8109-9E22-30EF-EEBA362A4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61548" y="365125"/>
            <a:ext cx="6717994" cy="6478724"/>
          </a:xfrm>
        </p:spPr>
      </p:pic>
      <p:pic>
        <p:nvPicPr>
          <p:cNvPr id="9" name="Picture 8" descr="A graph of a diagram&#10;&#10;AI-generated content may be incorrect.">
            <a:extLst>
              <a:ext uri="{FF2B5EF4-FFF2-40B4-BE49-F238E27FC236}">
                <a16:creationId xmlns:a16="http://schemas.microsoft.com/office/drawing/2014/main" id="{A9420A32-375D-E98C-4FCE-666F14727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3" y="1369287"/>
            <a:ext cx="43942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7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4009-9F0D-31A5-71A7-1070186E8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C68E16-39C1-E72F-1B37-8E82B358E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2629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28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365</Words>
  <Application>Microsoft Macintosh PowerPoint</Application>
  <PresentationFormat>Widescreen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Quantization and Pruning-Aware Deep Recurrent Models for Real-Time Human Activity Recognition on Android</vt:lpstr>
      <vt:lpstr>Problem Statement</vt:lpstr>
      <vt:lpstr>Technical Challenges</vt:lpstr>
      <vt:lpstr>Related Work</vt:lpstr>
      <vt:lpstr>Approach</vt:lpstr>
      <vt:lpstr>Results</vt:lpstr>
      <vt:lpstr>Results</vt:lpstr>
      <vt:lpstr>Broader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Ghali,Trisha</dc:creator>
  <cp:lastModifiedBy>Ghali,Trisha</cp:lastModifiedBy>
  <cp:revision>6</cp:revision>
  <dcterms:created xsi:type="dcterms:W3CDTF">2025-12-11T20:45:14Z</dcterms:created>
  <dcterms:modified xsi:type="dcterms:W3CDTF">2025-12-16T06:33:31Z</dcterms:modified>
</cp:coreProperties>
</file>